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一句话：阵列无关不是新任务，而是把空间表示和硬件排布解耦，让同一套前端跨设备可用。</a:t>
            </a:r>
          </a:p>
          <a:p/>
          <a:p>
            <a:r>
              <a:t>问题：IPD、通道数、孔径都绑在训练几何上，换设备就崩；固定阵列分数再高，也沉淀不成通用阵列能力。</a:t>
            </a:r>
          </a:p>
          <a:p/>
          <a:p>
            <a:r>
              <a:t>三条线：规范空间（AmbiDrop / MSEN）靠 ASM 编码 + dropout，天花板在编码误差；架构泛化（VarArray / DeFTAN-AA / FlexIO）不动表示域，靠置换无关聚合，同阵列略掉点；Geo-DConv 显式吃坐标，只在几何已知时成立——所以先拆口径：未知几何、已知几何、少麦是三件事。</a:t>
            </a:r>
          </a:p>
          <a:p/>
          <a:p>
            <a:r>
              <a:t>证据：AmbiDrop 未见阵列只回落约 1 dB，基线增强后反而低于带噪输入；缺 1 麦时基线 SI-SDRi 12→4 dB，它在 4 麦以上仍有 11.5→9.5 dB。</a:t>
            </a:r>
          </a:p>
          <a:p/>
          <a:p>
            <a:r>
              <a:t>下一步：三类口径同条件横评（seen / unseen、通道数、传感器失效），再接生成式前端；少麦上采样只作参照。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50292" cy="932688"/>
          </a:xfrm>
          <a:prstGeom prst="rect">
            <a:avLst/>
          </a:prstGeom>
          <a:solidFill>
            <a:srgbClr val="2C5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>
                <a:solidFill>
                  <a:srgbClr val="949CA8"/>
                </a:solidFill>
                <a:latin typeface="Microsoft YaHei"/>
                <a:ea typeface="Microsoft YaHei"/>
              </a:rPr>
              <a:t>组会速览  /  AI 语音  /  阵列增强 P1 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76072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</a:rPr>
              <a:t>Array-Agnostic SE：把空间信息与硬件排布解耦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52144"/>
            <a:ext cx="1069848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目标不是再刷某一个阵列的分数，而是让同一套前端在未知几何、可变通道数、少麦设备上都不崩。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09928"/>
            <a:ext cx="11091672" cy="7315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2C5C86"/>
                </a:solidFill>
                <a:latin typeface="Microsoft YaHei"/>
                <a:ea typeface="Microsoft YaHei"/>
              </a:rPr>
              <a:t>01  </a:t>
            </a: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379476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55448" indent="-155448">
              <a:lnSpc>
                <a:spcPct val="135000"/>
              </a:lnSpc>
              <a:spcAft>
                <a:spcPts val="700"/>
              </a:spcAft>
              <a:buFont typeface="Arial"/>
              <a:buChar char="·"/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IPD、通道顺序、通道数、阵列孔径都与训练几何绑死</a:t>
            </a:r>
          </a:p>
          <a:p>
            <a:pPr algn="l" marL="155448" indent="-155448">
              <a:lnSpc>
                <a:spcPct val="135000"/>
              </a:lnSpc>
              <a:spcAft>
                <a:spcPts val="700"/>
              </a:spcAft>
              <a:buFont typeface="Arial"/>
              <a:buChar char="·"/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换设备、换佩戴、少一个麦，固定阵列模型直接失效</a:t>
            </a:r>
          </a:p>
          <a:p>
            <a:pPr algn="l" marL="155448" indent="-155448">
              <a:lnSpc>
                <a:spcPct val="135000"/>
              </a:lnSpc>
              <a:spcAft>
                <a:spcPts val="700"/>
              </a:spcAft>
              <a:buFont typeface="Arial"/>
              <a:buChar char="·"/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</a:rPr>
              <a:t>只在固定阵列成立的生成式前端，沉淀不出通用能力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3794760" cy="56692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41148" cy="566928"/>
          </a:xfrm>
          <a:prstGeom prst="rect">
            <a:avLst/>
          </a:prstGeom>
          <a:solidFill>
            <a:srgbClr val="2C5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30168"/>
            <a:ext cx="352044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先拆口径：未知几何 / 已知几何 / 少麦，是三件事。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847088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2C5C86"/>
                </a:solidFill>
                <a:latin typeface="Microsoft YaHei"/>
                <a:ea typeface="Microsoft YaHei"/>
              </a:rPr>
              <a:t>02  </a:t>
            </a: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三条主线（按几何信息可用性拆）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1305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2C5C86"/>
                </a:solidFill>
                <a:latin typeface="Microsoft YaHei"/>
                <a:ea typeface="Microsoft YaHei"/>
              </a:rPr>
              <a:t>1 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规范空间表示</a:t>
            </a:r>
            <a:r>
              <a:rPr sz="950" b="0">
                <a:solidFill>
                  <a:srgbClr val="949CA8"/>
                </a:solidFill>
                <a:latin typeface="Microsoft YaHei"/>
                <a:ea typeface="Microsoft YaHei"/>
              </a:rPr>
              <a:t>    AmbiDrop · MSEN · SFB-NSE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任意阵列经 ASM 投到 Ambisonics / eigenbeam 域；dropout 模拟编码误差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sz="950" b="1">
                <a:solidFill>
                  <a:srgbClr val="2C5C86"/>
                </a:solidFill>
                <a:latin typeface="Microsoft YaHei"/>
                <a:ea typeface="Microsoft YaHei"/>
              </a:rPr>
              <a:t>上限：</a:t>
            </a: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编码误差 —— 小阵列 / 低频 / 缺传感器时最明显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4608" y="2816352"/>
            <a:ext cx="6766560" cy="7315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86207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2C5C86"/>
                </a:solidFill>
                <a:latin typeface="Microsoft YaHei"/>
                <a:ea typeface="Microsoft YaHei"/>
              </a:rPr>
              <a:t>2 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架构内建泛化</a:t>
            </a:r>
            <a:r>
              <a:rPr sz="950" b="0">
                <a:solidFill>
                  <a:srgbClr val="949CA8"/>
                </a:solidFill>
                <a:latin typeface="Microsoft YaHei"/>
                <a:ea typeface="Microsoft YaHei"/>
              </a:rPr>
              <a:t>    VarArray（TAC）· DeFTAN-AA · FlexIO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置换与数量无关的跨通道聚合 / 注意力，不做域变换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sz="950" b="1">
                <a:solidFill>
                  <a:srgbClr val="2C5C86"/>
                </a:solidFill>
                <a:latin typeface="Microsoft YaHei"/>
                <a:ea typeface="Microsoft YaHei"/>
              </a:rPr>
              <a:t>代价：</a:t>
            </a: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DeFTAN-AA 同阵列约让 1 dB，换阵列稳定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3547872"/>
            <a:ext cx="6766560" cy="7315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3593591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2C5C86"/>
                </a:solidFill>
                <a:latin typeface="Microsoft YaHei"/>
                <a:ea typeface="Microsoft YaHei"/>
              </a:rPr>
              <a:t>3 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显式几何条件化</a:t>
            </a:r>
            <a:r>
              <a:rPr sz="950" b="0">
                <a:solidFill>
                  <a:srgbClr val="949CA8"/>
                </a:solidFill>
                <a:latin typeface="Microsoft YaHei"/>
                <a:ea typeface="Microsoft YaHei"/>
              </a:rPr>
              <a:t>    Geo-DConv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麦坐标生成动态卷积权重，几何已知时才可用</a:t>
            </a:r>
          </a:p>
          <a:p>
            <a:pPr algn="l">
              <a:lnSpc>
                <a:spcPct val="110000"/>
              </a:lnSpc>
              <a:spcBef>
                <a:spcPts val="150"/>
              </a:spcBef>
            </a:pPr>
            <a:r>
              <a:rPr sz="950" b="1">
                <a:solidFill>
                  <a:srgbClr val="2C5C86"/>
                </a:solidFill>
                <a:latin typeface="Microsoft YaHei"/>
                <a:ea typeface="Microsoft YaHei"/>
              </a:rPr>
              <a:t>仅已知几何：</a:t>
            </a: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依赖坐标标定与佩戴不变形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4608" y="4279392"/>
            <a:ext cx="6766560" cy="7315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4334256"/>
            <a:ext cx="676656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1F2937"/>
                </a:solidFill>
                <a:latin typeface="Microsoft YaHei"/>
                <a:ea typeface="Microsoft YaHei"/>
              </a:rPr>
              <a:t>旁支：</a:t>
            </a: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HyBeam 低频 raw mic + 高频 beamformer；Spatial-Magnifier 少麦上采样，非严格 array-agnostic。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01184"/>
            <a:ext cx="11091672" cy="7315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657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2C5C86"/>
                </a:solidFill>
                <a:latin typeface="Microsoft YaHei"/>
                <a:ea typeface="Microsoft YaHei"/>
              </a:rPr>
              <a:t>03  </a:t>
            </a: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AmbiDrop 扩展版（20 个仿真阵列 + Aria 眼镜）</a:t>
            </a:r>
          </a:p>
          <a:p>
            <a:pPr algn="l" marL="155448" indent="-155448">
              <a:lnSpc>
                <a:spcPct val="140000"/>
              </a:lnSpc>
              <a:spcBef>
                <a:spcPts val="900"/>
              </a:spcBef>
              <a:buFont typeface="Arial"/>
              <a:buChar char="·"/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未见阵列仅回落 ≈1 dB；基线增强后的 SI-SDR 反而低于带噪输入</a:t>
            </a:r>
          </a:p>
          <a:p>
            <a:pPr algn="l" marL="155448" indent="-155448">
              <a:lnSpc>
                <a:spcPct val="140000"/>
              </a:lnSpc>
              <a:spcBef>
                <a:spcPts val="600"/>
              </a:spcBef>
              <a:buFont typeface="Arial"/>
              <a:buChar char="·"/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缺 1 麦：基线 SI-SDRi 12 → 4 dB；AmbiDrop ≥4 麦仍 11.5 → 9.5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50657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2C5C86"/>
                </a:solidFill>
                <a:latin typeface="Microsoft YaHei"/>
                <a:ea typeface="Microsoft YaHei"/>
              </a:rPr>
              <a:t>04  </a:t>
            </a: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判断与下一步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8736" y="5084064"/>
            <a:ext cx="10972" cy="1188720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539496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55448" indent="-155448">
              <a:lnSpc>
                <a:spcPct val="140000"/>
              </a:lnSpc>
              <a:buFont typeface="Arial"/>
              <a:buChar char="·"/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先同条件横评：seen / unseen × 通道数 × 传感器失效，口径分开报</a:t>
            </a:r>
          </a:p>
          <a:p>
            <a:pPr algn="l" marL="155448" indent="-155448">
              <a:lnSpc>
                <a:spcPct val="140000"/>
              </a:lnSpc>
              <a:spcBef>
                <a:spcPts val="900"/>
              </a:spcBef>
              <a:buFont typeface="Arial"/>
              <a:buChar char="·"/>
            </a:pPr>
            <a:r>
              <a:rPr sz="1050" b="0">
                <a:solidFill>
                  <a:srgbClr val="1F2937"/>
                </a:solidFill>
                <a:latin typeface="Microsoft YaHei"/>
                <a:ea typeface="Microsoft YaHei"/>
              </a:rPr>
              <a:t>再接生成式前端；少麦上采样只作穿戴参照，不抢主线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47104"/>
            <a:ext cx="110916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来源：库内《Array-Agnostic SE（阵列无关语音增强）》路线页；AmbiDrop（ICASSP 2026 / arXiv:2607.00548）、Geo-DConv、HyBeam 对象页。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Array-Agnostic SE 一页速览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